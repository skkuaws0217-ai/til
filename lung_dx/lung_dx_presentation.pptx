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828800"/>
            <a:ext cx="7680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AI 기반 폐질환 및 희귀질환</a:t>
            </a:r>
            <a:br/>
            <a:r>
              <a:t>진단 보조 프로그램</a:t>
            </a:r>
          </a:p>
          <a:p>
            <a:pPr algn="ctr">
              <a:defRPr sz="1800">
                <a:solidFill>
                  <a:srgbClr val="8EB8E5"/>
                </a:solidFill>
              </a:defRPr>
            </a:pPr>
            <a:r>
              <a:t>4-Phase Diagnostic Pipeline  |  536 Diseases  |  126 Reference Items</a:t>
            </a:r>
            <a:br/>
            <a:r>
              <a:t>SKKU Pre-Project  |  2026-04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B1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프로젝트 개요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0B1D3A"/>
                </a:solidFill>
              </a:defRPr>
            </a:pPr>
            <a:r>
              <a:t>목적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</a:defRPr>
            </a:pPr>
            <a:r>
              <a:t>MIMIC-IV 데이터와 의학 참조 데이터 기반 AI 폐질환 진단 보조 도구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</a:defRPr>
            </a:pPr>
          </a:p>
          <a:p>
            <a:pPr>
              <a:spcAft>
                <a:spcPts val="400"/>
              </a:spcAft>
              <a:defRPr sz="1600" b="1">
                <a:solidFill>
                  <a:srgbClr val="0B1D3A"/>
                </a:solidFill>
              </a:defRPr>
            </a:pPr>
            <a:r>
              <a:t>4단계 파이프라인</a:t>
            </a:r>
          </a:p>
          <a:p>
            <a:pPr lvl="1">
              <a:spcAft>
                <a:spcPts val="400"/>
              </a:spcAft>
              <a:defRPr sz="1300">
                <a:solidFill>
                  <a:srgbClr val="333333"/>
                </a:solidFill>
              </a:defRPr>
            </a:pPr>
            <a:r>
              <a:t>Phase 1: X-ray 이미지 AI 분석 (CheXNet DenseNet121)</a:t>
            </a:r>
          </a:p>
          <a:p>
            <a:pPr lvl="1">
              <a:spcAft>
                <a:spcPts val="400"/>
              </a:spcAft>
              <a:defRPr sz="1300">
                <a:solidFill>
                  <a:srgbClr val="333333"/>
                </a:solidFill>
              </a:defRPr>
            </a:pPr>
            <a:r>
              <a:t>Phase 2: Lab + Vitals/Respiratory/Hemodynamic + 미생물 + 증상 다중모달 매칭</a:t>
            </a:r>
          </a:p>
          <a:p>
            <a:pPr lvl="1">
              <a:spcAft>
                <a:spcPts val="400"/>
              </a:spcAft>
              <a:defRPr sz="1300">
                <a:solidFill>
                  <a:srgbClr val="333333"/>
                </a:solidFill>
              </a:defRPr>
            </a:pPr>
            <a:r>
              <a:t>Phase 3: 376개 희귀 폐질환 HPO 빈도가중 스크리닝</a:t>
            </a:r>
          </a:p>
          <a:p>
            <a:pPr lvl="1">
              <a:spcAft>
                <a:spcPts val="400"/>
              </a:spcAft>
              <a:defRPr sz="1300">
                <a:solidFill>
                  <a:srgbClr val="333333"/>
                </a:solidFill>
              </a:defRPr>
            </a:pPr>
            <a:r>
              <a:t>Phase 4: 임상소견서 자동 생성 (Bedrock Claude / 로컬 템플릿)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</a:defRPr>
            </a:pPr>
          </a:p>
          <a:p>
            <a:pPr>
              <a:spcAft>
                <a:spcPts val="400"/>
              </a:spcAft>
              <a:defRPr sz="1600" b="1">
                <a:solidFill>
                  <a:srgbClr val="0B1D3A"/>
                </a:solidFill>
              </a:defRPr>
            </a:pPr>
            <a:r>
              <a:t>질환 커버리지</a:t>
            </a:r>
          </a:p>
          <a:p>
            <a:pPr lvl="1">
              <a:spcAft>
                <a:spcPts val="400"/>
              </a:spcAft>
              <a:defRPr sz="1300">
                <a:solidFill>
                  <a:srgbClr val="333333"/>
                </a:solidFill>
              </a:defRPr>
            </a:pPr>
            <a:r>
              <a:t>일반 폐질환 82개 + 기타 폐관련 70개 + 희귀 376개 + YAML 상세 17개 = 536개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</a:defRPr>
            </a:pPr>
          </a:p>
          <a:p>
            <a:pPr>
              <a:spcAft>
                <a:spcPts val="400"/>
              </a:spcAft>
              <a:defRPr sz="1600" b="1">
                <a:solidFill>
                  <a:srgbClr val="0B1D3A"/>
                </a:solidFill>
              </a:defRPr>
            </a:pPr>
            <a:r>
              <a:t>참조 데이터</a:t>
            </a:r>
          </a:p>
          <a:p>
            <a:pPr lvl="1">
              <a:spcAft>
                <a:spcPts val="400"/>
              </a:spcAft>
              <a:defRPr sz="1300">
                <a:solidFill>
                  <a:srgbClr val="333333"/>
                </a:solidFill>
              </a:defRPr>
            </a:pPr>
            <a:r>
              <a:t>Lab 89개 항목 (lab_reference_ranges_v3.yaml)</a:t>
            </a:r>
          </a:p>
          <a:p>
            <a:pPr lvl="1">
              <a:spcAft>
                <a:spcPts val="400"/>
              </a:spcAft>
              <a:defRPr sz="1300">
                <a:solidFill>
                  <a:srgbClr val="333333"/>
                </a:solidFill>
              </a:defRPr>
            </a:pPr>
            <a:r>
              <a:t>Vitals/Respiratory/Hemodynamic 37개 항목 (vitals_respiratory_hemodynamic_reference_range_v1.yaml)</a:t>
            </a:r>
          </a:p>
          <a:p>
            <a:pPr lvl="1">
              <a:spcAft>
                <a:spcPts val="400"/>
              </a:spcAft>
              <a:defRPr sz="1300">
                <a:solidFill>
                  <a:srgbClr val="333333"/>
                </a:solidFill>
              </a:defRPr>
            </a:pPr>
            <a:r>
              <a:t>7개 파일이 유일한 기준 출처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B1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4-Phase Diagnostic Pipeline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1188720"/>
            <a:ext cx="2743200" cy="1828800"/>
          </a:xfrm>
          <a:prstGeom prst="roundRect">
            <a:avLst/>
          </a:prstGeom>
          <a:solidFill>
            <a:srgbClr val="1B5E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Phase 1: X-ray AI</a:t>
            </a:r>
          </a:p>
          <a:p>
            <a:pPr>
              <a:spcBef>
                <a:spcPts val="200"/>
              </a:spcBef>
              <a:defRPr sz="1000">
                <a:solidFill>
                  <a:srgbClr val="E0E0E0"/>
                </a:solidFill>
              </a:defRPr>
            </a:pPr>
            <a:r>
              <a:t>CheXNet (DenseNet121)</a:t>
            </a:r>
          </a:p>
          <a:p>
            <a:pPr>
              <a:spcBef>
                <a:spcPts val="200"/>
              </a:spcBef>
              <a:defRPr sz="1000">
                <a:solidFill>
                  <a:srgbClr val="E0E0E0"/>
                </a:solidFill>
              </a:defRPr>
            </a:pPr>
            <a:r>
              <a:t>14 CheXpert labels</a:t>
            </a:r>
          </a:p>
          <a:p>
            <a:pPr>
              <a:spcBef>
                <a:spcPts val="200"/>
              </a:spcBef>
              <a:defRPr sz="1000">
                <a:solidFill>
                  <a:srgbClr val="E0E0E0"/>
                </a:solidFill>
              </a:defRPr>
            </a:pPr>
            <a:r>
              <a:t>GradCAM 히트맵</a:t>
            </a:r>
          </a:p>
          <a:p>
            <a:pPr>
              <a:spcBef>
                <a:spcPts val="200"/>
              </a:spcBef>
              <a:defRPr sz="1000">
                <a:solidFill>
                  <a:srgbClr val="E0E0E0"/>
                </a:solidFill>
              </a:defRPr>
            </a:pPr>
            <a:r>
              <a:t>AI 영상 키워드 51개</a:t>
            </a:r>
          </a:p>
          <a:p>
            <a:pPr>
              <a:spcBef>
                <a:spcPts val="200"/>
              </a:spcBef>
              <a:defRPr sz="1000">
                <a:solidFill>
                  <a:srgbClr val="E0E0E0"/>
                </a:solidFill>
              </a:defRPr>
            </a:pPr>
            <a:r>
              <a:t>→ 1차 질환 후보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00400" y="1188720"/>
            <a:ext cx="2743200" cy="1828800"/>
          </a:xfrm>
          <a:prstGeom prst="roundRect">
            <a:avLst/>
          </a:prstGeom>
          <a:solidFill>
            <a:srgbClr val="0D47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Phase 2: Multi-modal</a:t>
            </a:r>
          </a:p>
          <a:p>
            <a:pPr>
              <a:spcBef>
                <a:spcPts val="200"/>
              </a:spcBef>
              <a:defRPr sz="1000">
                <a:solidFill>
                  <a:srgbClr val="E0E0E0"/>
                </a:solidFill>
              </a:defRPr>
            </a:pPr>
            <a:r>
              <a:t>Lab (89항목) 해석</a:t>
            </a:r>
          </a:p>
          <a:p>
            <a:pPr>
              <a:spcBef>
                <a:spcPts val="200"/>
              </a:spcBef>
              <a:defRPr sz="1000">
                <a:solidFill>
                  <a:srgbClr val="E0E0E0"/>
                </a:solidFill>
              </a:defRPr>
            </a:pPr>
            <a:r>
              <a:t>VRH (37항목) 해석</a:t>
            </a:r>
          </a:p>
          <a:p>
            <a:pPr>
              <a:spcBef>
                <a:spcPts val="200"/>
              </a:spcBef>
              <a:defRPr sz="1000">
                <a:solidFill>
                  <a:srgbClr val="E0E0E0"/>
                </a:solidFill>
              </a:defRPr>
            </a:pPr>
            <a:r>
              <a:t>미생물 매칭</a:t>
            </a:r>
          </a:p>
          <a:p>
            <a:pPr>
              <a:spcBef>
                <a:spcPts val="200"/>
              </a:spcBef>
              <a:defRPr sz="1000">
                <a:solidFill>
                  <a:srgbClr val="E0E0E0"/>
                </a:solidFill>
              </a:defRPr>
            </a:pPr>
            <a:r>
              <a:t>HPO 증상 매칭</a:t>
            </a:r>
          </a:p>
          <a:p>
            <a:pPr>
              <a:spcBef>
                <a:spcPts val="200"/>
              </a:spcBef>
              <a:defRPr sz="1000">
                <a:solidFill>
                  <a:srgbClr val="E0E0E0"/>
                </a:solidFill>
              </a:defRPr>
            </a:pPr>
            <a:r>
              <a:t>가중 스코어링 (S/L/R/M)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80" y="1188720"/>
            <a:ext cx="2743200" cy="1828800"/>
          </a:xfrm>
          <a:prstGeom prst="roundRect">
            <a:avLst/>
          </a:prstGeom>
          <a:solidFill>
            <a:srgbClr val="E65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Phase 3: Rare Disease</a:t>
            </a:r>
          </a:p>
          <a:p>
            <a:pPr>
              <a:spcBef>
                <a:spcPts val="200"/>
              </a:spcBef>
              <a:defRPr sz="1000">
                <a:solidFill>
                  <a:srgbClr val="E0E0E0"/>
                </a:solidFill>
              </a:defRPr>
            </a:pPr>
            <a:r>
              <a:t>376개 희귀질환</a:t>
            </a:r>
          </a:p>
          <a:p>
            <a:pPr>
              <a:spcBef>
                <a:spcPts val="200"/>
              </a:spcBef>
              <a:defRPr sz="1000">
                <a:solidFill>
                  <a:srgbClr val="E0E0E0"/>
                </a:solidFill>
              </a:defRPr>
            </a:pPr>
            <a:r>
              <a:t>HPO 빈도가중 매칭</a:t>
            </a:r>
          </a:p>
          <a:p>
            <a:pPr>
              <a:spcBef>
                <a:spcPts val="200"/>
              </a:spcBef>
              <a:defRPr sz="1000">
                <a:solidFill>
                  <a:srgbClr val="E0E0E0"/>
                </a:solidFill>
              </a:defRPr>
            </a:pPr>
            <a:r>
              <a:t>3,468 HPO 레코드</a:t>
            </a:r>
          </a:p>
          <a:p>
            <a:pPr>
              <a:spcBef>
                <a:spcPts val="200"/>
              </a:spcBef>
              <a:defRPr sz="1000">
                <a:solidFill>
                  <a:srgbClr val="E0E0E0"/>
                </a:solidFill>
              </a:defRPr>
            </a:pPr>
            <a:r>
              <a:t>유전자 검사 제안</a:t>
            </a:r>
          </a:p>
          <a:p>
            <a:pPr>
              <a:spcBef>
                <a:spcPts val="200"/>
              </a:spcBef>
              <a:defRPr sz="1000">
                <a:solidFill>
                  <a:srgbClr val="E0E0E0"/>
                </a:solidFill>
              </a:defRPr>
            </a:pPr>
            <a:r>
              <a:t>확진검사 계획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3383280"/>
            <a:ext cx="2743200" cy="1828800"/>
          </a:xfrm>
          <a:prstGeom prst="roundRect">
            <a:avLst/>
          </a:prstGeom>
          <a:solidFill>
            <a:srgbClr val="4A14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Phase 4: Report</a:t>
            </a:r>
          </a:p>
          <a:p>
            <a:pPr>
              <a:spcBef>
                <a:spcPts val="200"/>
              </a:spcBef>
              <a:defRPr sz="1000">
                <a:solidFill>
                  <a:srgbClr val="E0E0E0"/>
                </a:solidFill>
              </a:defRPr>
            </a:pPr>
            <a:r>
              <a:t>Bedrock Claude (AWS)</a:t>
            </a:r>
          </a:p>
          <a:p>
            <a:pPr>
              <a:spcBef>
                <a:spcPts val="200"/>
              </a:spcBef>
              <a:defRPr sz="1000">
                <a:solidFill>
                  <a:srgbClr val="E0E0E0"/>
                </a:solidFill>
              </a:defRPr>
            </a:pPr>
            <a:r>
              <a:t>또는 로컬 템플릿</a:t>
            </a:r>
          </a:p>
          <a:p>
            <a:pPr>
              <a:spcBef>
                <a:spcPts val="200"/>
              </a:spcBef>
              <a:defRPr sz="1000">
                <a:solidFill>
                  <a:srgbClr val="E0E0E0"/>
                </a:solidFill>
              </a:defRPr>
            </a:pPr>
            <a:r>
              <a:t>한국어 임상소견서</a:t>
            </a:r>
          </a:p>
          <a:p>
            <a:pPr>
              <a:spcBef>
                <a:spcPts val="200"/>
              </a:spcBef>
              <a:defRPr sz="1000">
                <a:solidFill>
                  <a:srgbClr val="E0E0E0"/>
                </a:solidFill>
              </a:defRPr>
            </a:pPr>
            <a:r>
              <a:t>Markdown / JSON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0" y="3383280"/>
            <a:ext cx="2743200" cy="1828800"/>
          </a:xfrm>
          <a:prstGeom prst="roundRect">
            <a:avLst/>
          </a:prstGeom>
          <a:solidFill>
            <a:srgbClr val="B7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Knowledge Base</a:t>
            </a:r>
          </a:p>
          <a:p>
            <a:pPr>
              <a:spcBef>
                <a:spcPts val="200"/>
              </a:spcBef>
              <a:defRPr sz="1000">
                <a:solidFill>
                  <a:srgbClr val="E0E0E0"/>
                </a:solidFill>
              </a:defRPr>
            </a:pPr>
            <a:r>
              <a:t>7개 핵심 파일</a:t>
            </a:r>
          </a:p>
          <a:p>
            <a:pPr>
              <a:spcBef>
                <a:spcPts val="200"/>
              </a:spcBef>
              <a:defRPr sz="1000">
                <a:solidFill>
                  <a:srgbClr val="E0E0E0"/>
                </a:solidFill>
              </a:defRPr>
            </a:pPr>
            <a:r>
              <a:t>YAML 4개 + Excel 3개</a:t>
            </a:r>
          </a:p>
          <a:p>
            <a:pPr>
              <a:spcBef>
                <a:spcPts val="200"/>
              </a:spcBef>
              <a:defRPr sz="1000">
                <a:solidFill>
                  <a:srgbClr val="E0E0E0"/>
                </a:solidFill>
              </a:defRPr>
            </a:pPr>
            <a:r>
              <a:t>536개 질환 레지스트리</a:t>
            </a:r>
          </a:p>
          <a:p>
            <a:pPr>
              <a:spcBef>
                <a:spcPts val="200"/>
              </a:spcBef>
              <a:defRPr sz="1000">
                <a:solidFill>
                  <a:srgbClr val="E0E0E0"/>
                </a:solidFill>
              </a:defRPr>
            </a:pPr>
            <a:r>
              <a:t>1,416 HPO IDs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3383280"/>
            <a:ext cx="2743200" cy="1828800"/>
          </a:xfrm>
          <a:prstGeom prst="roundRect">
            <a:avLst/>
          </a:prstGeom>
          <a:solidFill>
            <a:srgbClr val="006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입력 방법</a:t>
            </a:r>
          </a:p>
          <a:p>
            <a:pPr>
              <a:spcBef>
                <a:spcPts val="200"/>
              </a:spcBef>
              <a:defRPr sz="1000">
                <a:solidFill>
                  <a:srgbClr val="E0E0E0"/>
                </a:solidFill>
              </a:defRPr>
            </a:pPr>
            <a:r>
              <a:t>JSON 파일</a:t>
            </a:r>
          </a:p>
          <a:p>
            <a:pPr>
              <a:spcBef>
                <a:spcPts val="200"/>
              </a:spcBef>
              <a:defRPr sz="1000">
                <a:solidFill>
                  <a:srgbClr val="E0E0E0"/>
                </a:solidFill>
              </a:defRPr>
            </a:pPr>
            <a:r>
              <a:t>Lab PDF 자동 파싱</a:t>
            </a:r>
          </a:p>
          <a:p>
            <a:pPr>
              <a:spcBef>
                <a:spcPts val="200"/>
              </a:spcBef>
              <a:defRPr sz="1000">
                <a:solidFill>
                  <a:srgbClr val="E0E0E0"/>
                </a:solidFill>
              </a:defRPr>
            </a:pPr>
            <a:r>
              <a:t>대화형 CLI</a:t>
            </a:r>
          </a:p>
          <a:p>
            <a:pPr>
              <a:spcBef>
                <a:spcPts val="200"/>
              </a:spcBef>
              <a:defRPr sz="1000">
                <a:solidFill>
                  <a:srgbClr val="E0E0E0"/>
                </a:solidFill>
              </a:defRPr>
            </a:pPr>
            <a:r>
              <a:t>FastAPI REST API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B1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데이터 흐름도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0B1D3A"/>
                </a:solidFill>
              </a:defRPr>
            </a:pPr>
            <a:r>
              <a:t>환자 데이터 입력</a:t>
            </a:r>
          </a:p>
          <a:p>
            <a:pPr lvl="1">
              <a:spcAft>
                <a:spcPts val="400"/>
              </a:spcAft>
              <a:defRPr sz="1300">
                <a:solidFill>
                  <a:srgbClr val="333333"/>
                </a:solidFill>
              </a:defRPr>
            </a:pPr>
            <a:r>
              <a:t>JSON 직접 입력 / Lab PDF 자동 파싱 / 대화형 CLI / REST API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</a:defRPr>
            </a:pPr>
          </a:p>
          <a:p>
            <a:pPr>
              <a:spcAft>
                <a:spcPts val="400"/>
              </a:spcAft>
              <a:defRPr sz="1600" b="1">
                <a:solidFill>
                  <a:srgbClr val="0B1D3A"/>
                </a:solidFill>
              </a:defRPr>
            </a:pPr>
            <a:r>
              <a:t>Phase 1 흐름 (X-ray 제공 시)</a:t>
            </a:r>
          </a:p>
          <a:p>
            <a:pPr lvl="1">
              <a:spcAft>
                <a:spcPts val="400"/>
              </a:spcAft>
              <a:defRPr sz="1300">
                <a:solidFill>
                  <a:srgbClr val="333333"/>
                </a:solidFill>
              </a:defRPr>
            </a:pPr>
            <a:r>
              <a:t>X-ray 이미지 → 전처리(224x224) → CheXNet → 14 labels 확률</a:t>
            </a:r>
          </a:p>
          <a:p>
            <a:pPr lvl="1">
              <a:spcAft>
                <a:spcPts val="400"/>
              </a:spcAft>
              <a:defRPr sz="1300">
                <a:solidFill>
                  <a:srgbClr val="333333"/>
                </a:solidFill>
              </a:defRPr>
            </a:pPr>
            <a:r>
              <a:t>→ CheXpert→키워드 매핑 → 528개 질환 DB '영상 키워드' 매칭 → 1차 후보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</a:defRPr>
            </a:pPr>
          </a:p>
          <a:p>
            <a:pPr>
              <a:spcAft>
                <a:spcPts val="400"/>
              </a:spcAft>
              <a:defRPr sz="1600" b="1">
                <a:solidFill>
                  <a:srgbClr val="0B1D3A"/>
                </a:solidFill>
              </a:defRPr>
            </a:pPr>
            <a:r>
              <a:t>Phase 2 흐름</a:t>
            </a:r>
          </a:p>
          <a:p>
            <a:pPr lvl="1">
              <a:spcAft>
                <a:spcPts val="400"/>
              </a:spcAft>
              <a:defRPr sz="1300">
                <a:solidFill>
                  <a:srgbClr val="333333"/>
                </a:solidFill>
              </a:defRPr>
            </a:pPr>
            <a:r>
              <a:t>Lab 값 → lab_reference_ranges_v3.yaml 기준 판정 → medical_term + disease_associations</a:t>
            </a:r>
          </a:p>
          <a:p>
            <a:pPr lvl="1">
              <a:spcAft>
                <a:spcPts val="400"/>
              </a:spcAft>
              <a:defRPr sz="1300">
                <a:solidFill>
                  <a:srgbClr val="333333"/>
                </a:solidFill>
              </a:defRPr>
            </a:pPr>
            <a:r>
              <a:t>VRH 값 → vitals_reference_v1.yaml 기준 판정 → thresholds + scoring(NEWS2/qSOFA/CURB-65/PESI)</a:t>
            </a:r>
          </a:p>
          <a:p>
            <a:pPr lvl="1">
              <a:spcAft>
                <a:spcPts val="400"/>
              </a:spcAft>
              <a:defRPr sz="1300">
                <a:solidFill>
                  <a:srgbClr val="333333"/>
                </a:solidFill>
              </a:defRPr>
            </a:pPr>
            <a:r>
              <a:t>미생물 → Excel DB 미생물 소견 + YAML micro_findings 매칭</a:t>
            </a:r>
          </a:p>
          <a:p>
            <a:pPr lvl="1">
              <a:spcAft>
                <a:spcPts val="400"/>
              </a:spcAft>
              <a:defRPr sz="1300">
                <a:solidFill>
                  <a:srgbClr val="333333"/>
                </a:solidFill>
              </a:defRPr>
            </a:pPr>
            <a:r>
              <a:t>증상 → HPO 코드 변환 → 질환별 HPO 리스트 매칭</a:t>
            </a:r>
          </a:p>
          <a:p>
            <a:pPr lvl="1">
              <a:spcAft>
                <a:spcPts val="400"/>
              </a:spcAft>
              <a:defRPr sz="1300">
                <a:solidFill>
                  <a:srgbClr val="333333"/>
                </a:solidFill>
              </a:defRPr>
            </a:pPr>
            <a:r>
              <a:t>→ 질환별 S/L/R/M 가중치로 종합 스코어 → 순위 산출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</a:defRPr>
            </a:pPr>
          </a:p>
          <a:p>
            <a:pPr>
              <a:spcAft>
                <a:spcPts val="400"/>
              </a:spcAft>
              <a:defRPr sz="1600" b="1">
                <a:solidFill>
                  <a:srgbClr val="0B1D3A"/>
                </a:solidFill>
              </a:defRPr>
            </a:pPr>
            <a:r>
              <a:t>Phase 3 흐름 (트리거 시)</a:t>
            </a:r>
          </a:p>
          <a:p>
            <a:pPr lvl="1">
              <a:spcAft>
                <a:spcPts val="400"/>
              </a:spcAft>
              <a:defRPr sz="1300">
                <a:solidFill>
                  <a:srgbClr val="333333"/>
                </a:solidFill>
              </a:defRPr>
            </a:pPr>
            <a:r>
              <a:t>환자 HPO → 376개 희귀질환 3,468 HPO 대비 빈도가중 매칭</a:t>
            </a:r>
          </a:p>
          <a:p>
            <a:pPr lvl="1">
              <a:spcAft>
                <a:spcPts val="400"/>
              </a:spcAft>
              <a:defRPr sz="1300">
                <a:solidFill>
                  <a:srgbClr val="333333"/>
                </a:solidFill>
              </a:defRPr>
            </a:pPr>
            <a:r>
              <a:t>→ IC(Information Content) 보정 → 순위 → 유전자 검사 제안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</a:defRPr>
            </a:pPr>
          </a:p>
          <a:p>
            <a:pPr>
              <a:spcAft>
                <a:spcPts val="400"/>
              </a:spcAft>
              <a:defRPr sz="1600" b="1">
                <a:solidFill>
                  <a:srgbClr val="0B1D3A"/>
                </a:solidFill>
              </a:defRPr>
            </a:pPr>
            <a:r>
              <a:t>Phase 4 흐름</a:t>
            </a:r>
          </a:p>
          <a:p>
            <a:pPr lvl="1">
              <a:spcAft>
                <a:spcPts val="400"/>
              </a:spcAft>
              <a:defRPr sz="1300">
                <a:solidFill>
                  <a:srgbClr val="333333"/>
                </a:solidFill>
              </a:defRPr>
            </a:pPr>
            <a:r>
              <a:t>Phase 1~3 결과 JSON → Bedrock Claude 또는 템플릿 → 임상소견서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B1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스코어링 알고리즘 (Fact-Based)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0B1D3A"/>
                </a:solidFill>
              </a:defRPr>
            </a:pPr>
            <a:r>
              <a:t>Phase 2: 가중 다중모달 스코어</a:t>
            </a:r>
          </a:p>
          <a:p>
            <a:pPr lvl="1">
              <a:spcAft>
                <a:spcPts val="400"/>
              </a:spcAft>
              <a:defRPr sz="1300">
                <a:solidFill>
                  <a:srgbClr val="333333"/>
                </a:solidFill>
              </a:defRPr>
            </a:pPr>
            <a:r>
              <a:t>score = Sum(w_c x match_ratio_c) / Sum(active_w_c)</a:t>
            </a:r>
          </a:p>
          <a:p>
            <a:pPr lvl="1">
              <a:spcAft>
                <a:spcPts val="400"/>
              </a:spcAft>
              <a:defRPr sz="1300">
                <a:solidFill>
                  <a:srgbClr val="333333"/>
                </a:solidFill>
              </a:defRPr>
            </a:pPr>
            <a:r>
              <a:t>w = 질환별 S(증상)/L(Lab)/R(영상)/M(미생물) 가중치 (합 = 1.0)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</a:defRPr>
            </a:pPr>
          </a:p>
          <a:p>
            <a:pPr>
              <a:spcAft>
                <a:spcPts val="400"/>
              </a:spcAft>
              <a:defRPr sz="1600" b="1">
                <a:solidFill>
                  <a:srgbClr val="0B1D3A"/>
                </a:solidFill>
              </a:defRPr>
            </a:pPr>
            <a:r>
              <a:t>가중치 출처</a:t>
            </a:r>
          </a:p>
          <a:p>
            <a:pPr lvl="1">
              <a:spcAft>
                <a:spcPts val="400"/>
              </a:spcAft>
              <a:defRPr sz="1300">
                <a:solidFill>
                  <a:srgbClr val="333333"/>
                </a:solidFill>
              </a:defRPr>
            </a:pPr>
            <a:r>
              <a:t>명시적 가중치 58개 질환: YAML/Excel 기재값 (Harrison's, GOLD, ATS/IDSA 등)</a:t>
            </a:r>
          </a:p>
          <a:p>
            <a:pPr lvl="1">
              <a:spcAft>
                <a:spcPts val="400"/>
              </a:spcAft>
              <a:defRPr sz="1300">
                <a:solidFill>
                  <a:srgbClr val="333333"/>
                </a:solidFill>
              </a:defRPr>
            </a:pPr>
            <a:r>
              <a:t>기본값 (일반): S:0.25 L:0.20 R:0.35 M:0.20 (YAML 17개 가중 평균)</a:t>
            </a:r>
          </a:p>
          <a:p>
            <a:pPr lvl="1">
              <a:spcAft>
                <a:spcPts val="400"/>
              </a:spcAft>
              <a:defRPr sz="1300">
                <a:solidFill>
                  <a:srgbClr val="333333"/>
                </a:solidFill>
              </a:defRPr>
            </a:pPr>
            <a:r>
              <a:t>기본값 (희귀): S:0.45 L:0.20 R:0.20 M:0.15 (HPO 중심 접근)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</a:defRPr>
            </a:pPr>
          </a:p>
          <a:p>
            <a:pPr>
              <a:spcAft>
                <a:spcPts val="400"/>
              </a:spcAft>
              <a:defRPr sz="1600" b="1">
                <a:solidFill>
                  <a:srgbClr val="0B1D3A"/>
                </a:solidFill>
              </a:defRPr>
            </a:pPr>
            <a:r>
              <a:t>보정 계수</a:t>
            </a:r>
          </a:p>
          <a:p>
            <a:pPr lvl="1">
              <a:spcAft>
                <a:spcPts val="400"/>
              </a:spcAft>
              <a:defRPr sz="1300">
                <a:solidFill>
                  <a:srgbClr val="333333"/>
                </a:solidFill>
              </a:defRPr>
            </a:pPr>
            <a:r>
              <a:t>Critical Lab 보너스: +0.05 [CAP Critical Values]</a:t>
            </a:r>
          </a:p>
          <a:p>
            <a:pPr lvl="1">
              <a:spcAft>
                <a:spcPts val="400"/>
              </a:spcAft>
              <a:defRPr sz="1300">
                <a:solidFill>
                  <a:srgbClr val="333333"/>
                </a:solidFill>
              </a:defRPr>
            </a:pPr>
            <a:r>
              <a:t>NEWS2 &gt;= 7 + 감염성 질환: +0.03 [RCP NEWS2 2017]</a:t>
            </a:r>
          </a:p>
          <a:p>
            <a:pPr lvl="1">
              <a:spcAft>
                <a:spcPts val="400"/>
              </a:spcAft>
              <a:defRPr sz="1300">
                <a:solidFill>
                  <a:srgbClr val="333333"/>
                </a:solidFill>
              </a:defRPr>
            </a:pPr>
            <a:r>
              <a:t>다중모달 커버리지: sqrt(active/available) [Bayesian convergence]</a:t>
            </a:r>
          </a:p>
          <a:p>
            <a:pPr lvl="1">
              <a:spcAft>
                <a:spcPts val="400"/>
              </a:spcAft>
              <a:defRPr sz="1300">
                <a:solidFill>
                  <a:srgbClr val="333333"/>
                </a:solidFill>
              </a:defRPr>
            </a:pPr>
            <a:r>
              <a:t>최소 기준 수 정규화: min 3개 [과대평가 방지]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</a:defRPr>
            </a:pPr>
          </a:p>
          <a:p>
            <a:pPr>
              <a:spcAft>
                <a:spcPts val="400"/>
              </a:spcAft>
              <a:defRPr sz="1600" b="1">
                <a:solidFill>
                  <a:srgbClr val="0B1D3A"/>
                </a:solidFill>
              </a:defRPr>
            </a:pPr>
            <a:r>
              <a:t>Phase 3: HPO 빈도가중 스코어</a:t>
            </a:r>
          </a:p>
          <a:p>
            <a:pPr lvl="1">
              <a:spcAft>
                <a:spcPts val="400"/>
              </a:spcAft>
              <a:defRPr sz="1300">
                <a:solidFill>
                  <a:srgbClr val="333333"/>
                </a:solidFill>
              </a:defRPr>
            </a:pPr>
            <a:r>
              <a:t>Obligate(1.0) &gt; Very frequent(0.8) &gt; Frequent(0.6) &gt; Occasional(0.3) &gt; Very rare(0.1)</a:t>
            </a:r>
          </a:p>
          <a:p>
            <a:pPr lvl="1">
              <a:spcAft>
                <a:spcPts val="400"/>
              </a:spcAft>
              <a:defRPr sz="1300">
                <a:solidFill>
                  <a:srgbClr val="333333"/>
                </a:solidFill>
              </a:defRPr>
            </a:pPr>
            <a:r>
              <a:t>IC 보정: -log2(diseases_with_hpo / total) x 0.01</a:t>
            </a:r>
          </a:p>
          <a:p>
            <a:pPr>
              <a:spcAft>
                <a:spcPts val="400"/>
              </a:spcAft>
              <a:defRPr sz="1100" i="1">
                <a:solidFill>
                  <a:srgbClr val="666666"/>
                </a:solidFill>
              </a:defRPr>
            </a:pPr>
            <a:r>
              <a:t>[Kohler et al. AJHG 2009; Orphanet phenotype-driven approach]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B1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AWS 아키텍처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1188720"/>
            <a:ext cx="2743200" cy="1828800"/>
          </a:xfrm>
          <a:prstGeom prst="roundRect">
            <a:avLst/>
          </a:prstGeom>
          <a:solidFill>
            <a:srgbClr val="1B5E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Amazon SageMaker</a:t>
            </a:r>
          </a:p>
          <a:p>
            <a:pPr>
              <a:spcBef>
                <a:spcPts val="200"/>
              </a:spcBef>
              <a:defRPr sz="1000">
                <a:solidFill>
                  <a:srgbClr val="E0E0E0"/>
                </a:solidFill>
              </a:defRPr>
            </a:pPr>
            <a:r>
              <a:t>CheXNet 모델 배포</a:t>
            </a:r>
          </a:p>
          <a:p>
            <a:pPr>
              <a:spcBef>
                <a:spcPts val="200"/>
              </a:spcBef>
              <a:defRPr sz="1000">
                <a:solidFill>
                  <a:srgbClr val="E0E0E0"/>
                </a:solidFill>
              </a:defRPr>
            </a:pPr>
            <a:r>
              <a:t>ml.g4dn.xlarge (GPU)</a:t>
            </a:r>
          </a:p>
          <a:p>
            <a:pPr>
              <a:spcBef>
                <a:spcPts val="200"/>
              </a:spcBef>
              <a:defRPr sz="1000">
                <a:solidFill>
                  <a:srgbClr val="E0E0E0"/>
                </a:solidFill>
              </a:defRPr>
            </a:pPr>
            <a:r>
              <a:t>Real-time Endpoint</a:t>
            </a:r>
          </a:p>
          <a:p>
            <a:pPr>
              <a:spcBef>
                <a:spcPts val="200"/>
              </a:spcBef>
              <a:defRPr sz="1000">
                <a:solidFill>
                  <a:srgbClr val="E0E0E0"/>
                </a:solidFill>
              </a:defRPr>
            </a:pPr>
            <a:r>
              <a:t>→ Phase 1 X-ray 추론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00400" y="1188720"/>
            <a:ext cx="2743200" cy="1828800"/>
          </a:xfrm>
          <a:prstGeom prst="roundRect">
            <a:avLst/>
          </a:prstGeom>
          <a:solidFill>
            <a:srgbClr val="0D47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Amazon Bedrock</a:t>
            </a:r>
          </a:p>
          <a:p>
            <a:pPr>
              <a:spcBef>
                <a:spcPts val="200"/>
              </a:spcBef>
              <a:defRPr sz="1000">
                <a:solidFill>
                  <a:srgbClr val="E0E0E0"/>
                </a:solidFill>
              </a:defRPr>
            </a:pPr>
            <a:r>
              <a:t>Claude Sonnet</a:t>
            </a:r>
          </a:p>
          <a:p>
            <a:pPr>
              <a:spcBef>
                <a:spcPts val="200"/>
              </a:spcBef>
              <a:defRPr sz="1000">
                <a:solidFill>
                  <a:srgbClr val="E0E0E0"/>
                </a:solidFill>
              </a:defRPr>
            </a:pPr>
            <a:r>
              <a:t>임상소견서 자연어 생성</a:t>
            </a:r>
          </a:p>
          <a:p>
            <a:pPr>
              <a:spcBef>
                <a:spcPts val="200"/>
              </a:spcBef>
              <a:defRPr sz="1000">
                <a:solidFill>
                  <a:srgbClr val="E0E0E0"/>
                </a:solidFill>
              </a:defRPr>
            </a:pPr>
            <a:r>
              <a:t>→ Phase 4 Report</a:t>
            </a:r>
          </a:p>
          <a:p>
            <a:pPr>
              <a:spcBef>
                <a:spcPts val="200"/>
              </a:spcBef>
              <a:defRPr sz="1000">
                <a:solidFill>
                  <a:srgbClr val="E0E0E0"/>
                </a:solidFill>
              </a:defRPr>
            </a:pPr>
            <a:r>
              <a:t>한국어 의학 용어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80" y="1188720"/>
            <a:ext cx="2743200" cy="1828800"/>
          </a:xfrm>
          <a:prstGeom prst="roundRect">
            <a:avLst/>
          </a:prstGeom>
          <a:solidFill>
            <a:srgbClr val="E65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Amazon S3</a:t>
            </a:r>
          </a:p>
          <a:p>
            <a:pPr>
              <a:spcBef>
                <a:spcPts val="200"/>
              </a:spcBef>
              <a:defRPr sz="1000">
                <a:solidFill>
                  <a:srgbClr val="E0E0E0"/>
                </a:solidFill>
              </a:defRPr>
            </a:pPr>
            <a:r>
              <a:t>참조 데이터 (YAML/Excel)</a:t>
            </a:r>
          </a:p>
          <a:p>
            <a:pPr>
              <a:spcBef>
                <a:spcPts val="200"/>
              </a:spcBef>
              <a:defRPr sz="1000">
                <a:solidFill>
                  <a:srgbClr val="E0E0E0"/>
                </a:solidFill>
              </a:defRPr>
            </a:pPr>
            <a:r>
              <a:t>X-ray 이미지 저장</a:t>
            </a:r>
          </a:p>
          <a:p>
            <a:pPr>
              <a:spcBef>
                <a:spcPts val="200"/>
              </a:spcBef>
              <a:defRPr sz="1000">
                <a:solidFill>
                  <a:srgbClr val="E0E0E0"/>
                </a:solidFill>
              </a:defRPr>
            </a:pPr>
            <a:r>
              <a:t>Lab PDF 저장</a:t>
            </a:r>
          </a:p>
          <a:p>
            <a:pPr>
              <a:spcBef>
                <a:spcPts val="200"/>
              </a:spcBef>
              <a:defRPr sz="1000">
                <a:solidFill>
                  <a:srgbClr val="E0E0E0"/>
                </a:solidFill>
              </a:defRPr>
            </a:pPr>
            <a:r>
              <a:t>소견서 결과 저장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3383280"/>
            <a:ext cx="2743200" cy="1828800"/>
          </a:xfrm>
          <a:prstGeom prst="roundRect">
            <a:avLst/>
          </a:prstGeom>
          <a:solidFill>
            <a:srgbClr val="4A14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API Gateway + Lambda</a:t>
            </a:r>
          </a:p>
          <a:p>
            <a:pPr>
              <a:spcBef>
                <a:spcPts val="200"/>
              </a:spcBef>
              <a:defRPr sz="1000">
                <a:solidFill>
                  <a:srgbClr val="E0E0E0"/>
                </a:solidFill>
              </a:defRPr>
            </a:pPr>
            <a:r>
              <a:t>REST API 엔드포인트</a:t>
            </a:r>
          </a:p>
          <a:p>
            <a:pPr>
              <a:spcBef>
                <a:spcPts val="200"/>
              </a:spcBef>
              <a:defRPr sz="1000">
                <a:solidFill>
                  <a:srgbClr val="E0E0E0"/>
                </a:solidFill>
              </a:defRPr>
            </a:pPr>
            <a:r>
              <a:t>POST /api/v1/diagnose</a:t>
            </a:r>
          </a:p>
          <a:p>
            <a:pPr>
              <a:spcBef>
                <a:spcPts val="200"/>
              </a:spcBef>
              <a:defRPr sz="1000">
                <a:solidFill>
                  <a:srgbClr val="E0E0E0"/>
                </a:solidFill>
              </a:defRPr>
            </a:pPr>
            <a:r>
              <a:t>GET /api/v1/health</a:t>
            </a:r>
          </a:p>
          <a:p>
            <a:pPr>
              <a:spcBef>
                <a:spcPts val="200"/>
              </a:spcBef>
              <a:defRPr sz="1000">
                <a:solidFill>
                  <a:srgbClr val="E0E0E0"/>
                </a:solidFill>
              </a:defRPr>
            </a:pPr>
            <a:r>
              <a:t>또는 ECS Fargate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0" y="3383280"/>
            <a:ext cx="2743200" cy="1828800"/>
          </a:xfrm>
          <a:prstGeom prst="roundRect">
            <a:avLst/>
          </a:prstGeom>
          <a:solidFill>
            <a:srgbClr val="B7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Amazon CloudWatch</a:t>
            </a:r>
          </a:p>
          <a:p>
            <a:pPr>
              <a:spcBef>
                <a:spcPts val="200"/>
              </a:spcBef>
              <a:defRPr sz="1000">
                <a:solidFill>
                  <a:srgbClr val="E0E0E0"/>
                </a:solidFill>
              </a:defRPr>
            </a:pPr>
            <a:r>
              <a:t>로깅 + 모니터링</a:t>
            </a:r>
          </a:p>
          <a:p>
            <a:pPr>
              <a:spcBef>
                <a:spcPts val="200"/>
              </a:spcBef>
              <a:defRPr sz="1000">
                <a:solidFill>
                  <a:srgbClr val="E0E0E0"/>
                </a:solidFill>
              </a:defRPr>
            </a:pPr>
            <a:r>
              <a:t>SageMaker 추론 지연</a:t>
            </a:r>
          </a:p>
          <a:p>
            <a:pPr>
              <a:spcBef>
                <a:spcPts val="200"/>
              </a:spcBef>
              <a:defRPr sz="1000">
                <a:solidFill>
                  <a:srgbClr val="E0E0E0"/>
                </a:solidFill>
              </a:defRPr>
            </a:pPr>
            <a:r>
              <a:t>Bedrock 호출 추적</a:t>
            </a:r>
          </a:p>
          <a:p>
            <a:pPr>
              <a:spcBef>
                <a:spcPts val="200"/>
              </a:spcBef>
              <a:defRPr sz="1000">
                <a:solidFill>
                  <a:srgbClr val="E0E0E0"/>
                </a:solidFill>
              </a:defRPr>
            </a:pPr>
            <a:r>
              <a:t>오류 알림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3383280"/>
            <a:ext cx="2743200" cy="1828800"/>
          </a:xfrm>
          <a:prstGeom prst="roundRect">
            <a:avLst/>
          </a:prstGeom>
          <a:solidFill>
            <a:srgbClr val="006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환경변수 전환</a:t>
            </a:r>
          </a:p>
          <a:p>
            <a:pPr>
              <a:spcBef>
                <a:spcPts val="200"/>
              </a:spcBef>
              <a:defRPr sz="1000">
                <a:solidFill>
                  <a:srgbClr val="E0E0E0"/>
                </a:solidFill>
              </a:defRPr>
            </a:pPr>
            <a:r>
              <a:t>LUNG_DX_XRAY_BACKEND</a:t>
            </a:r>
          </a:p>
          <a:p>
            <a:pPr>
              <a:spcBef>
                <a:spcPts val="200"/>
              </a:spcBef>
              <a:defRPr sz="1000">
                <a:solidFill>
                  <a:srgbClr val="E0E0E0"/>
                </a:solidFill>
              </a:defRPr>
            </a:pPr>
            <a:r>
              <a:t>LUNG_DX_REPORT_BACKEND</a:t>
            </a:r>
          </a:p>
          <a:p>
            <a:pPr>
              <a:spcBef>
                <a:spcPts val="200"/>
              </a:spcBef>
              <a:defRPr sz="1000">
                <a:solidFill>
                  <a:srgbClr val="E0E0E0"/>
                </a:solidFill>
              </a:defRPr>
            </a:pPr>
            <a:r>
              <a:t>LUNG_DX_DATA_BACKEND</a:t>
            </a:r>
          </a:p>
          <a:p>
            <a:pPr>
              <a:spcBef>
                <a:spcPts val="200"/>
              </a:spcBef>
              <a:defRPr sz="1000">
                <a:solidFill>
                  <a:srgbClr val="E0E0E0"/>
                </a:solidFill>
              </a:defRPr>
            </a:pPr>
            <a:r>
              <a:t>코드 수정 없이 전환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B1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AWS 마이그레이션 로드맵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0B1D3A"/>
                </a:solidFill>
              </a:defRPr>
            </a:pPr>
            <a:r>
              <a:t>Stage 1: 로컬 개발 (현재)</a:t>
            </a:r>
          </a:p>
          <a:p>
            <a:pPr lvl="1">
              <a:spcAft>
                <a:spcPts val="400"/>
              </a:spcAft>
              <a:defRPr sz="1300">
                <a:solidFill>
                  <a:srgbClr val="333333"/>
                </a:solidFill>
              </a:defRPr>
            </a:pPr>
            <a:r>
              <a:t>CheXNet on Apple MPS / CPU</a:t>
            </a:r>
          </a:p>
          <a:p>
            <a:pPr lvl="1">
              <a:spcAft>
                <a:spcPts val="400"/>
              </a:spcAft>
              <a:defRPr sz="1300">
                <a:solidFill>
                  <a:srgbClr val="333333"/>
                </a:solidFill>
              </a:defRPr>
            </a:pPr>
            <a:r>
              <a:t>템플릿 기반 소견서</a:t>
            </a:r>
          </a:p>
          <a:p>
            <a:pPr lvl="1">
              <a:spcAft>
                <a:spcPts val="400"/>
              </a:spcAft>
              <a:defRPr sz="1300">
                <a:solidFill>
                  <a:srgbClr val="333333"/>
                </a:solidFill>
              </a:defRPr>
            </a:pPr>
            <a:r>
              <a:t>로컬 파일시스템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</a:defRPr>
            </a:pPr>
          </a:p>
          <a:p>
            <a:pPr>
              <a:spcAft>
                <a:spcPts val="400"/>
              </a:spcAft>
              <a:defRPr sz="1600" b="1">
                <a:solidFill>
                  <a:srgbClr val="0B1D3A"/>
                </a:solidFill>
              </a:defRPr>
            </a:pPr>
            <a:r>
              <a:t>Stage 2: Bedrock 연동</a:t>
            </a:r>
          </a:p>
          <a:p>
            <a:pPr lvl="1">
              <a:spcAft>
                <a:spcPts val="400"/>
              </a:spcAft>
              <a:defRPr sz="1300">
                <a:solidFill>
                  <a:srgbClr val="333333"/>
                </a:solidFill>
              </a:defRPr>
            </a:pPr>
            <a:r>
              <a:t>aws configure → LUNG_DX_REPORT_BACKEND=bedrock</a:t>
            </a:r>
          </a:p>
          <a:p>
            <a:pPr lvl="1">
              <a:spcAft>
                <a:spcPts val="400"/>
              </a:spcAft>
              <a:defRPr sz="1300">
                <a:solidFill>
                  <a:srgbClr val="333333"/>
                </a:solidFill>
              </a:defRPr>
            </a:pPr>
            <a:r>
              <a:t>Claude Sonnet으로 자연어 소견서 생성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</a:defRPr>
            </a:pPr>
          </a:p>
          <a:p>
            <a:pPr>
              <a:spcAft>
                <a:spcPts val="400"/>
              </a:spcAft>
              <a:defRPr sz="1600" b="1">
                <a:solidFill>
                  <a:srgbClr val="0B1D3A"/>
                </a:solidFill>
              </a:defRPr>
            </a:pPr>
            <a:r>
              <a:t>Stage 3: S3 데이터</a:t>
            </a:r>
          </a:p>
          <a:p>
            <a:pPr lvl="1">
              <a:spcAft>
                <a:spcPts val="400"/>
              </a:spcAft>
              <a:defRPr sz="1300">
                <a:solidFill>
                  <a:srgbClr val="333333"/>
                </a:solidFill>
              </a:defRPr>
            </a:pPr>
            <a:r>
              <a:t>YAML/Excel/이미지를 S3 업로드</a:t>
            </a:r>
          </a:p>
          <a:p>
            <a:pPr lvl="1">
              <a:spcAft>
                <a:spcPts val="400"/>
              </a:spcAft>
              <a:defRPr sz="1300">
                <a:solidFill>
                  <a:srgbClr val="333333"/>
                </a:solidFill>
              </a:defRPr>
            </a:pPr>
            <a:r>
              <a:t>LUNG_DX_DATA_BACKEND=s3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</a:defRPr>
            </a:pPr>
          </a:p>
          <a:p>
            <a:pPr>
              <a:spcAft>
                <a:spcPts val="400"/>
              </a:spcAft>
              <a:defRPr sz="1600" b="1">
                <a:solidFill>
                  <a:srgbClr val="0B1D3A"/>
                </a:solidFill>
              </a:defRPr>
            </a:pPr>
            <a:r>
              <a:t>Stage 4: SageMaker 모델 배포</a:t>
            </a:r>
          </a:p>
          <a:p>
            <a:pPr lvl="1">
              <a:spcAft>
                <a:spcPts val="400"/>
              </a:spcAft>
              <a:defRPr sz="1300">
                <a:solidFill>
                  <a:srgbClr val="333333"/>
                </a:solidFill>
              </a:defRPr>
            </a:pPr>
            <a:r>
              <a:t>CheXNet → model.tar.gz → SageMaker Endpoint</a:t>
            </a:r>
          </a:p>
          <a:p>
            <a:pPr lvl="1">
              <a:spcAft>
                <a:spcPts val="400"/>
              </a:spcAft>
              <a:defRPr sz="1300">
                <a:solidFill>
                  <a:srgbClr val="333333"/>
                </a:solidFill>
              </a:defRPr>
            </a:pPr>
            <a:r>
              <a:t>LUNG_DX_XRAY_BACKEND=sagemaker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</a:defRPr>
            </a:pPr>
          </a:p>
          <a:p>
            <a:pPr>
              <a:spcAft>
                <a:spcPts val="400"/>
              </a:spcAft>
              <a:defRPr sz="1600" b="1">
                <a:solidFill>
                  <a:srgbClr val="0B1D3A"/>
                </a:solidFill>
              </a:defRPr>
            </a:pPr>
            <a:r>
              <a:t>Stage 5: 풀 클라우드</a:t>
            </a:r>
          </a:p>
          <a:p>
            <a:pPr lvl="1">
              <a:spcAft>
                <a:spcPts val="400"/>
              </a:spcAft>
              <a:defRPr sz="1300">
                <a:solidFill>
                  <a:srgbClr val="333333"/>
                </a:solidFill>
              </a:defRPr>
            </a:pPr>
            <a:r>
              <a:t>ECS Fargate 또는 Lambda + API Gateway</a:t>
            </a:r>
          </a:p>
          <a:p>
            <a:pPr lvl="1">
              <a:spcAft>
                <a:spcPts val="400"/>
              </a:spcAft>
              <a:defRPr sz="1300">
                <a:solidFill>
                  <a:srgbClr val="333333"/>
                </a:solidFill>
              </a:defRPr>
            </a:pPr>
            <a:r>
              <a:t>CloudWatch 모니터링</a:t>
            </a:r>
          </a:p>
          <a:p>
            <a:pPr lvl="1">
              <a:spcAft>
                <a:spcPts val="400"/>
              </a:spcAft>
              <a:defRPr sz="1300">
                <a:solidFill>
                  <a:srgbClr val="333333"/>
                </a:solidFill>
              </a:defRPr>
            </a:pPr>
            <a:r>
              <a:t>CDK 인프라 코드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B1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사용법 요약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0B1D3A"/>
                </a:solidFill>
              </a:defRPr>
            </a:pPr>
            <a:r>
              <a:t>CLI - JSON 파일 입력</a:t>
            </a:r>
          </a:p>
          <a:p>
            <a:pPr lvl="1">
              <a:spcAft>
                <a:spcPts val="400"/>
              </a:spcAft>
              <a:defRPr sz="1300">
                <a:solidFill>
                  <a:srgbClr val="333333"/>
                </a:solidFill>
              </a:defRPr>
            </a:pPr>
            <a:r>
              <a:t>python -m lung_dx.cli --json patient.json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</a:defRPr>
            </a:pPr>
          </a:p>
          <a:p>
            <a:pPr>
              <a:spcAft>
                <a:spcPts val="400"/>
              </a:spcAft>
              <a:defRPr sz="1600" b="1">
                <a:solidFill>
                  <a:srgbClr val="0B1D3A"/>
                </a:solidFill>
              </a:defRPr>
            </a:pPr>
            <a:r>
              <a:t>CLI - Lab PDF 자동 파싱</a:t>
            </a:r>
          </a:p>
          <a:p>
            <a:pPr lvl="1">
              <a:spcAft>
                <a:spcPts val="400"/>
              </a:spcAft>
              <a:defRPr sz="1300">
                <a:solidFill>
                  <a:srgbClr val="333333"/>
                </a:solidFill>
              </a:defRPr>
            </a:pPr>
            <a:r>
              <a:t>python -m lung_dx.cli --json patient.json --lab-pdf lab_results.pdf</a:t>
            </a:r>
          </a:p>
          <a:p>
            <a:pPr lvl="1">
              <a:spcAft>
                <a:spcPts val="400"/>
              </a:spcAft>
              <a:defRPr sz="1300">
                <a:solidFill>
                  <a:srgbClr val="333333"/>
                </a:solidFill>
              </a:defRPr>
            </a:pPr>
            <a:r>
              <a:t>(한국어/영문 검사명 자동 인식 → YAML ItemID 매칭)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</a:defRPr>
            </a:pPr>
          </a:p>
          <a:p>
            <a:pPr>
              <a:spcAft>
                <a:spcPts val="400"/>
              </a:spcAft>
              <a:defRPr sz="1600" b="1">
                <a:solidFill>
                  <a:srgbClr val="0B1D3A"/>
                </a:solidFill>
              </a:defRPr>
            </a:pPr>
            <a:r>
              <a:t>CLI - 대화형 모드</a:t>
            </a:r>
          </a:p>
          <a:p>
            <a:pPr lvl="1">
              <a:spcAft>
                <a:spcPts val="400"/>
              </a:spcAft>
              <a:defRPr sz="1300">
                <a:solidFill>
                  <a:srgbClr val="333333"/>
                </a:solidFill>
              </a:defRPr>
            </a:pPr>
            <a:r>
              <a:t>python -m lung_dx.cli --interactive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</a:defRPr>
            </a:pPr>
          </a:p>
          <a:p>
            <a:pPr>
              <a:spcAft>
                <a:spcPts val="400"/>
              </a:spcAft>
              <a:defRPr sz="1600" b="1">
                <a:solidFill>
                  <a:srgbClr val="0B1D3A"/>
                </a:solidFill>
              </a:defRPr>
            </a:pPr>
            <a:r>
              <a:t>FastAPI 웹 서버</a:t>
            </a:r>
          </a:p>
          <a:p>
            <a:pPr lvl="1">
              <a:spcAft>
                <a:spcPts val="400"/>
              </a:spcAft>
              <a:defRPr sz="1300">
                <a:solidFill>
                  <a:srgbClr val="333333"/>
                </a:solidFill>
              </a:defRPr>
            </a:pPr>
            <a:r>
              <a:t>uvicorn lung_dx.main:app --reload --port 8000</a:t>
            </a:r>
          </a:p>
          <a:p>
            <a:pPr lvl="1">
              <a:spcAft>
                <a:spcPts val="400"/>
              </a:spcAft>
              <a:defRPr sz="1300">
                <a:solidFill>
                  <a:srgbClr val="333333"/>
                </a:solidFill>
              </a:defRPr>
            </a:pPr>
            <a:r>
              <a:t>Swagger UI: http://localhost:8000/docs</a:t>
            </a:r>
          </a:p>
          <a:p>
            <a:pPr lvl="1">
              <a:spcAft>
                <a:spcPts val="400"/>
              </a:spcAft>
              <a:defRPr sz="1300">
                <a:solidFill>
                  <a:srgbClr val="333333"/>
                </a:solidFill>
              </a:defRPr>
            </a:pPr>
            <a:r>
              <a:t>POST /api/v1/diagnose → 진단 실행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</a:defRPr>
            </a:pPr>
          </a:p>
          <a:p>
            <a:pPr>
              <a:spcAft>
                <a:spcPts val="400"/>
              </a:spcAft>
              <a:defRPr sz="1600" b="1">
                <a:solidFill>
                  <a:srgbClr val="0B1D3A"/>
                </a:solidFill>
              </a:defRPr>
            </a:pPr>
            <a:r>
              <a:t>새 환자 검증</a:t>
            </a:r>
          </a:p>
          <a:p>
            <a:pPr lvl="1">
              <a:spcAft>
                <a:spcPts val="400"/>
              </a:spcAft>
              <a:defRPr sz="1300">
                <a:solidFill>
                  <a:srgbClr val="333333"/>
                </a:solidFill>
              </a:defRPr>
            </a:pPr>
            <a:r>
              <a:t>1) sample_patient.json 형식으로 JSON 작성</a:t>
            </a:r>
          </a:p>
          <a:p>
            <a:pPr lvl="1">
              <a:spcAft>
                <a:spcPts val="400"/>
              </a:spcAft>
              <a:defRPr sz="1300">
                <a:solidFill>
                  <a:srgbClr val="333333"/>
                </a:solidFill>
              </a:defRPr>
            </a:pPr>
            <a:r>
              <a:t>2) python -m lung_dx.cli --json my_patient.json 실행</a:t>
            </a:r>
          </a:p>
          <a:p>
            <a:pPr lvl="1">
              <a:spcAft>
                <a:spcPts val="400"/>
              </a:spcAft>
              <a:defRPr sz="1300">
                <a:solidFill>
                  <a:srgbClr val="333333"/>
                </a:solidFill>
              </a:defRPr>
            </a:pPr>
            <a:r>
              <a:t>3) 터미널에 임상소견서 출력 + .result.json 저장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</a:defRPr>
            </a:pPr>
          </a:p>
          <a:p>
            <a:pPr>
              <a:spcAft>
                <a:spcPts val="400"/>
              </a:spcAft>
              <a:defRPr sz="1600" b="1">
                <a:solidFill>
                  <a:srgbClr val="0B1D3A"/>
                </a:solidFill>
              </a:defRPr>
            </a:pPr>
            <a:r>
              <a:t>분석 기준</a:t>
            </a:r>
          </a:p>
          <a:p>
            <a:pPr lvl="1">
              <a:spcAft>
                <a:spcPts val="400"/>
              </a:spcAft>
              <a:defRPr sz="1300">
                <a:solidFill>
                  <a:srgbClr val="333333"/>
                </a:solidFill>
              </a:defRPr>
            </a:pPr>
            <a:r>
              <a:t>어떤 입력 경로든 동일한 YAML 기준으로 판정 (MIMIC-IV 종속 아님)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B1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핵심 수치 요약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0B1D3A"/>
                </a:solidFill>
              </a:defRPr>
            </a:pPr>
            <a:r>
              <a:t>질환 데이터베이스</a:t>
            </a:r>
          </a:p>
          <a:p>
            <a:pPr lvl="1">
              <a:spcAft>
                <a:spcPts val="400"/>
              </a:spcAft>
              <a:defRPr sz="1300">
                <a:solidFill>
                  <a:srgbClr val="333333"/>
                </a:solidFill>
              </a:defRPr>
            </a:pPr>
            <a:r>
              <a:t>전체 536개 질환 (일반 82 + 기타 70 + 희귀 376 + YAML 17)</a:t>
            </a:r>
          </a:p>
          <a:p>
            <a:pPr lvl="1">
              <a:spcAft>
                <a:spcPts val="400"/>
              </a:spcAft>
              <a:defRPr sz="1300">
                <a:solidFill>
                  <a:srgbClr val="333333"/>
                </a:solidFill>
              </a:defRPr>
            </a:pPr>
            <a:r>
              <a:t>1,416개 고유 HPO ID</a:t>
            </a:r>
          </a:p>
          <a:p>
            <a:pPr lvl="1">
              <a:spcAft>
                <a:spcPts val="400"/>
              </a:spcAft>
              <a:defRPr sz="1300">
                <a:solidFill>
                  <a:srgbClr val="333333"/>
                </a:solidFill>
              </a:defRPr>
            </a:pPr>
            <a:r>
              <a:t>51개 AI 영상 키워드</a:t>
            </a:r>
          </a:p>
          <a:p>
            <a:pPr lvl="1">
              <a:spcAft>
                <a:spcPts val="400"/>
              </a:spcAft>
              <a:defRPr sz="1300">
                <a:solidFill>
                  <a:srgbClr val="333333"/>
                </a:solidFill>
              </a:defRPr>
            </a:pPr>
            <a:r>
              <a:t>유전자 정보 보유 101개 희귀질환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</a:defRPr>
            </a:pPr>
          </a:p>
          <a:p>
            <a:pPr>
              <a:spcAft>
                <a:spcPts val="400"/>
              </a:spcAft>
              <a:defRPr sz="1600" b="1">
                <a:solidFill>
                  <a:srgbClr val="0B1D3A"/>
                </a:solidFill>
              </a:defRPr>
            </a:pPr>
            <a:r>
              <a:t>검사 참조 항목</a:t>
            </a:r>
          </a:p>
          <a:p>
            <a:pPr lvl="1">
              <a:spcAft>
                <a:spcPts val="400"/>
              </a:spcAft>
              <a:defRPr sz="1300">
                <a:solidFill>
                  <a:srgbClr val="333333"/>
                </a:solidFill>
              </a:defRPr>
            </a:pPr>
            <a:r>
              <a:t>Lab: 89개 (MIMIC 53 + 외부 36), 13개 카테고리 (A~M)</a:t>
            </a:r>
          </a:p>
          <a:p>
            <a:pPr lvl="1">
              <a:spcAft>
                <a:spcPts val="400"/>
              </a:spcAft>
              <a:defRPr sz="1300">
                <a:solidFill>
                  <a:srgbClr val="333333"/>
                </a:solidFill>
              </a:defRPr>
            </a:pPr>
            <a:r>
              <a:t>VRH: 37개 (Vital Signs + Respiratory + Hemodynamic)</a:t>
            </a:r>
          </a:p>
          <a:p>
            <a:pPr lvl="1">
              <a:spcAft>
                <a:spcPts val="400"/>
              </a:spcAft>
              <a:defRPr sz="1300">
                <a:solidFill>
                  <a:srgbClr val="333333"/>
                </a:solidFill>
              </a:defRPr>
            </a:pPr>
            <a:r>
              <a:t>Critical 값: 20개 Lab 항목</a:t>
            </a:r>
          </a:p>
          <a:p>
            <a:pPr lvl="1">
              <a:spcAft>
                <a:spcPts val="400"/>
              </a:spcAft>
              <a:defRPr sz="1300">
                <a:solidFill>
                  <a:srgbClr val="333333"/>
                </a:solidFill>
              </a:defRPr>
            </a:pPr>
            <a:r>
              <a:t>Threshold: 15개 Lab + 다수 VRH 항목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</a:defRPr>
            </a:pPr>
          </a:p>
          <a:p>
            <a:pPr>
              <a:spcAft>
                <a:spcPts val="400"/>
              </a:spcAft>
              <a:defRPr sz="1600" b="1">
                <a:solidFill>
                  <a:srgbClr val="0B1D3A"/>
                </a:solidFill>
              </a:defRPr>
            </a:pPr>
            <a:r>
              <a:t>스코어링 시스템</a:t>
            </a:r>
          </a:p>
          <a:p>
            <a:pPr lvl="1">
              <a:spcAft>
                <a:spcPts val="400"/>
              </a:spcAft>
              <a:defRPr sz="1300">
                <a:solidFill>
                  <a:srgbClr val="333333"/>
                </a:solidFill>
              </a:defRPr>
            </a:pPr>
            <a:r>
              <a:t>NEWS2, qSOFA, CURB-65, PESI, Wells PE Score</a:t>
            </a:r>
          </a:p>
          <a:p>
            <a:pPr lvl="1">
              <a:spcAft>
                <a:spcPts val="400"/>
              </a:spcAft>
              <a:defRPr sz="1300">
                <a:solidFill>
                  <a:srgbClr val="333333"/>
                </a:solidFill>
              </a:defRPr>
            </a:pPr>
            <a:r>
              <a:t>파생 지표: S/F ratio, P/F ratio, Driving Pressure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</a:defRPr>
            </a:pPr>
          </a:p>
          <a:p>
            <a:pPr>
              <a:spcAft>
                <a:spcPts val="400"/>
              </a:spcAft>
              <a:defRPr sz="1600" b="1">
                <a:solidFill>
                  <a:srgbClr val="0B1D3A"/>
                </a:solidFill>
              </a:defRPr>
            </a:pPr>
            <a:r>
              <a:t>코드 규모</a:t>
            </a:r>
          </a:p>
          <a:p>
            <a:pPr lvl="1">
              <a:spcAft>
                <a:spcPts val="400"/>
              </a:spcAft>
              <a:defRPr sz="1300">
                <a:solidFill>
                  <a:srgbClr val="333333"/>
                </a:solidFill>
              </a:defRPr>
            </a:pPr>
            <a:r>
              <a:t>Python 파일 52개, 코드 6,187줄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